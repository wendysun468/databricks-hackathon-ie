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B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39C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Aptos Display"/>
              </a:rPr>
              <a:t>GeoGap Planner</a:t>
            </a:r>
          </a:p>
          <a:p>
            <a:pPr>
              <a:defRPr sz="1800">
                <a:solidFill>
                  <a:srgbClr val="CDD9E9"/>
                </a:solidFill>
                <a:latin typeface="Aptos"/>
              </a:defRPr>
            </a:pPr>
            <a:r>
              <a:t>A geospatial expansion-intelligence app for doctors and hospital groups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560320"/>
            <a:ext cx="9875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E8F0FA"/>
                </a:solidFill>
                <a:latin typeface="Aptos"/>
              </a:rPr>
              <a:t>Find underserved specialty geographies, review evidence-backed facilities, assess affordability, and shortlist candidate expansion zones.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B4BECD"/>
                </a:solidFill>
                <a:latin typeface="Aptos"/>
              </a:rPr>
              <a:t>Hackathon concept draft | coworker review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222D"/>
                </a:solidFill>
                <a:latin typeface="Aptos Display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789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06C7E"/>
                </a:solidFill>
                <a:latin typeface="Aptos"/>
              </a:rPr>
              <a:t>Doctors and hospital groups need a better way to choose where to expand.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C222D"/>
                </a:solidFill>
                <a:latin typeface="Aptos"/>
              </a:defRPr>
            </a:pPr>
            <a:r>
              <a:t>Expansion decisions are often made with incomplete local visibility.</a:t>
            </a:r>
          </a:p>
          <a:p>
            <a:pPr>
              <a:spcAft>
                <a:spcPts val="800"/>
              </a:spcAft>
              <a:defRPr sz="1900">
                <a:solidFill>
                  <a:srgbClr val="1C222D"/>
                </a:solidFill>
                <a:latin typeface="Aptos"/>
              </a:defRPr>
            </a:pPr>
            <a:r>
              <a:t>A simple directory does not show real specialty gaps.</a:t>
            </a:r>
          </a:p>
          <a:p>
            <a:pPr>
              <a:spcAft>
                <a:spcPts val="800"/>
              </a:spcAft>
              <a:defRPr sz="1900">
                <a:solidFill>
                  <a:srgbClr val="1C222D"/>
                </a:solidFill>
                <a:latin typeface="Aptos"/>
              </a:defRPr>
            </a:pPr>
            <a:r>
              <a:t>Facility claims are messy, repetitive, and unevenly supported.</a:t>
            </a:r>
          </a:p>
          <a:p>
            <a:pPr>
              <a:spcAft>
                <a:spcPts val="800"/>
              </a:spcAft>
              <a:defRPr sz="1900">
                <a:solidFill>
                  <a:srgbClr val="1C222D"/>
                </a:solidFill>
                <a:latin typeface="Aptos"/>
              </a:defRPr>
            </a:pPr>
            <a:r>
              <a:t>District health burden matters when judging where demand is likely high.</a:t>
            </a:r>
          </a:p>
          <a:p>
            <a:pPr>
              <a:spcAft>
                <a:spcPts val="800"/>
              </a:spcAft>
              <a:defRPr sz="1900">
                <a:solidFill>
                  <a:srgbClr val="1C222D"/>
                </a:solidFill>
                <a:latin typeface="Aptos"/>
              </a:defRPr>
            </a:pPr>
            <a:r>
              <a:t>Affordability matters if the chosen area needs to fit a lower-cost or premium care model.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737360"/>
            <a:ext cx="4572000" cy="3291840"/>
          </a:xfrm>
          <a:prstGeom prst="roundRect">
            <a:avLst/>
          </a:prstGeom>
          <a:solidFill>
            <a:srgbClr val="139CA4"/>
          </a:solidFill>
          <a:ln>
            <a:solidFill>
              <a:srgbClr val="139C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Aptos Display"/>
              </a:rPr>
              <a:t>What this app changes</a:t>
            </a:r>
          </a:p>
          <a:p>
            <a:r>
              <a:rPr sz="1200">
                <a:solidFill>
                  <a:srgbClr val="FFFFFF"/>
                </a:solidFill>
                <a:latin typeface="Aptos"/>
              </a:rPr>
              <a:t>It turns noisy healthcare records into a map-based decision tool that ranks underserved locations, shows the evidence behind each recommendation, and adds a coarse affordability lens.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06C7E"/>
                </a:solidFill>
                <a:latin typeface="Aptos"/>
              </a:rPr>
              <a:t>Focus: specialty expansion planning, not live vacancy search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222D"/>
                </a:solidFill>
                <a:latin typeface="Aptos Display"/>
              </a:rPr>
              <a:t>What data we already have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789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06C7E"/>
                </a:solidFill>
                <a:latin typeface="Aptos"/>
              </a:rPr>
              <a:t>Enough to build a useful MVP without overpromising.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3474720"/>
          </a:xfrm>
          <a:prstGeom prst="roundRect">
            <a:avLst/>
          </a:prstGeom>
          <a:solidFill>
            <a:srgbClr val="0C1B36"/>
          </a:solidFill>
          <a:ln>
            <a:solidFill>
              <a:srgbClr val="0C1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Aptos Display"/>
              </a:rPr>
              <a:t>Facilities</a:t>
            </a:r>
          </a:p>
          <a:p>
            <a:r>
              <a:rPr sz="1200">
                <a:solidFill>
                  <a:srgbClr val="FFFFFF"/>
                </a:solidFill>
                <a:latin typeface="Aptos"/>
              </a:rPr>
              <a:t>Supply signals: facility name, type, operator type, address, coordinates, specialties, procedures, equipment, capabilities, contacts, and source URLs.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474720" cy="3474720"/>
          </a:xfrm>
          <a:prstGeom prst="roundRect">
            <a:avLst/>
          </a:prstGeom>
          <a:solidFill>
            <a:srgbClr val="139CA4"/>
          </a:solidFill>
          <a:ln>
            <a:solidFill>
              <a:srgbClr val="139C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Aptos Display"/>
              </a:rPr>
              <a:t>Pincode geography</a:t>
            </a:r>
          </a:p>
          <a:p>
            <a:r>
              <a:rPr sz="1200">
                <a:solidFill>
                  <a:srgbClr val="FFFFFF"/>
                </a:solidFill>
                <a:latin typeface="Aptos"/>
              </a:rPr>
              <a:t>Geographic normalization: pincode, district, state, postal region fields, and approximate coordinates.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474720" cy="3474720"/>
          </a:xfrm>
          <a:prstGeom prst="roundRect">
            <a:avLst/>
          </a:prstGeom>
          <a:solidFill>
            <a:srgbClr val="EC7650"/>
          </a:solidFill>
          <a:ln>
            <a:solidFill>
              <a:srgbClr val="EC76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Aptos Display"/>
              </a:rPr>
              <a:t>NFHS district indicators</a:t>
            </a:r>
          </a:p>
          <a:p>
            <a:r>
              <a:rPr sz="1200">
                <a:solidFill>
                  <a:srgbClr val="FFFFFF"/>
                </a:solidFill>
                <a:latin typeface="Aptos"/>
              </a:rPr>
              <a:t>Demand proxies: maternal health, child health, anemia, diabetes, hypertension, insurance, education, nutrition, and affordability context, including delivery out-of-pocket signals.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06C7E"/>
                </a:solidFill>
                <a:latin typeface="Aptos"/>
              </a:rPr>
              <a:t>These tables are enough for supply-gap inference, not live staffing or appointments.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222D"/>
                </a:solidFill>
                <a:latin typeface="Aptos Display"/>
              </a:rPr>
              <a:t>Maternal care affordability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789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06C7E"/>
                </a:solidFill>
                <a:latin typeface="Aptos"/>
              </a:rPr>
              <a:t>A specialty-specific view for delivery and maternity expansion.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C222D"/>
                </a:solidFill>
                <a:latin typeface="Aptos"/>
              </a:defRPr>
            </a:pPr>
            <a:r>
              <a:t>When maternal care is selected, the app can surface a modeled delivery-cost view.</a:t>
            </a:r>
          </a:p>
          <a:p>
            <a:pPr>
              <a:spcAft>
                <a:spcPts val="800"/>
              </a:spcAft>
              <a:defRPr sz="1900">
                <a:solidFill>
                  <a:srgbClr val="1C222D"/>
                </a:solidFill>
                <a:latin typeface="Aptos"/>
              </a:defRPr>
            </a:pPr>
            <a:r>
              <a:t>The strongest current proxy is average out-of-pocket expenditure per delivery in a public facility.</a:t>
            </a:r>
          </a:p>
          <a:p>
            <a:pPr>
              <a:spcAft>
                <a:spcPts val="800"/>
              </a:spcAft>
              <a:defRPr sz="1900">
                <a:solidFill>
                  <a:srgbClr val="1C222D"/>
                </a:solidFill>
                <a:latin typeface="Aptos"/>
              </a:defRPr>
            </a:pPr>
            <a:r>
              <a:t>We combine that with district insurance coverage and public vs private provider mix.</a:t>
            </a:r>
          </a:p>
          <a:p>
            <a:pPr>
              <a:spcAft>
                <a:spcPts val="800"/>
              </a:spcAft>
              <a:defRPr sz="1900">
                <a:solidFill>
                  <a:srgbClr val="1C222D"/>
                </a:solidFill>
                <a:latin typeface="Aptos"/>
              </a:defRPr>
            </a:pPr>
            <a:r>
              <a:t>This helps users favor lower-cost or better-covered care options for patients.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737360"/>
            <a:ext cx="4572000" cy="3291840"/>
          </a:xfrm>
          <a:prstGeom prst="roundRect">
            <a:avLst/>
          </a:prstGeom>
          <a:solidFill>
            <a:srgbClr val="139CA4"/>
          </a:solidFill>
          <a:ln>
            <a:solidFill>
              <a:srgbClr val="139C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Aptos Display"/>
              </a:rPr>
              <a:t>What the model should show</a:t>
            </a:r>
          </a:p>
          <a:p>
            <a:r>
              <a:rPr sz="1200">
                <a:solidFill>
                  <a:srgbClr val="FFFFFF"/>
                </a:solidFill>
                <a:latin typeface="Aptos"/>
              </a:rPr>
              <a:t>District delivery-cost estimate, affordability label, and guidance on how the practice can serve patients better on cost and access.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06C7E"/>
                </a:solidFill>
                <a:latin typeface="Aptos"/>
              </a:rPr>
              <a:t>Maternal care uses delivery-cost modeling, not general procedure pricing.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B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What the app will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789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Aptos"/>
              </a:rPr>
              <a:t>A map-first workflow for expansion planning.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566160" cy="1920240"/>
          </a:xfrm>
          <a:prstGeom prst="roundRect">
            <a:avLst/>
          </a:prstGeom>
          <a:solidFill>
            <a:srgbClr val="139CA4"/>
          </a:solidFill>
          <a:ln>
            <a:solidFill>
              <a:srgbClr val="139C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Aptos Display"/>
              </a:rPr>
              <a:t>1. Search</a:t>
            </a:r>
          </a:p>
          <a:p>
            <a:r>
              <a:rPr sz="1200">
                <a:solidFill>
                  <a:srgbClr val="FFFFFF"/>
                </a:solidFill>
                <a:latin typeface="Aptos"/>
              </a:rPr>
              <a:t>User selects one specialty or a multi-specialty profile and chooses a geography.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645920"/>
            <a:ext cx="3566160" cy="1920240"/>
          </a:xfrm>
          <a:prstGeom prst="roundRect">
            <a:avLst/>
          </a:prstGeom>
          <a:solidFill>
            <a:srgbClr val="EC7650"/>
          </a:solidFill>
          <a:ln>
            <a:solidFill>
              <a:srgbClr val="EC76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Aptos Display"/>
              </a:rPr>
              <a:t>2. Score</a:t>
            </a:r>
          </a:p>
          <a:p>
            <a:r>
              <a:rPr sz="1200">
                <a:solidFill>
                  <a:srgbClr val="FFFFFF"/>
                </a:solidFill>
                <a:latin typeface="Aptos"/>
              </a:rPr>
              <a:t>App evaluates nearby facilities using evidence strength and location coverage.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645920"/>
            <a:ext cx="3566160" cy="1920240"/>
          </a:xfrm>
          <a:prstGeom prst="roundRect">
            <a:avLst/>
          </a:prstGeom>
          <a:solidFill>
            <a:srgbClr val="4D80BF"/>
          </a:solidFill>
          <a:ln>
            <a:solidFill>
              <a:srgbClr val="4D8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Aptos Display"/>
              </a:rPr>
              <a:t>3. Rank</a:t>
            </a:r>
          </a:p>
          <a:p>
            <a:r>
              <a:rPr sz="1200">
                <a:solidFill>
                  <a:srgbClr val="FFFFFF"/>
                </a:solidFill>
                <a:latin typeface="Aptos"/>
              </a:rPr>
              <a:t>App ranks candidate zones by supply gap, demand signal, and confidence.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0" y="4023360"/>
            <a:ext cx="8138160" cy="1554480"/>
          </a:xfrm>
          <a:prstGeom prst="roundRect">
            <a:avLst/>
          </a:prstGeom>
          <a:solidFill>
            <a:srgbClr val="212D42"/>
          </a:solidFill>
          <a:ln>
            <a:solidFill>
              <a:srgbClr val="21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Aptos Display"/>
              </a:rPr>
              <a:t>Output</a:t>
            </a:r>
          </a:p>
          <a:p>
            <a:r>
              <a:rPr sz="1200">
                <a:solidFill>
                  <a:srgbClr val="FFFFFF"/>
                </a:solidFill>
                <a:latin typeface="Aptos"/>
              </a:rPr>
              <a:t>An evidence-backed shortlist of expansion locations with nearby competitors, trust labels, affordability labels, and notes the user can save. For maternal care, this includes delivery affordability cues.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B4BECD"/>
                </a:solidFill>
                <a:latin typeface="Aptos"/>
              </a:rPr>
              <a:t>Trust labels keep weak claims from being treated as fact.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222D"/>
                </a:solidFill>
                <a:latin typeface="Aptos Display"/>
              </a:rPr>
              <a:t>MVP feature 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789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06C7E"/>
                </a:solidFill>
                <a:latin typeface="Aptos"/>
              </a:rPr>
              <a:t>What we can build now from the current data.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45920"/>
            <a:ext cx="5120640" cy="3474720"/>
          </a:xfrm>
          <a:prstGeom prst="roundRect">
            <a:avLst/>
          </a:prstGeom>
          <a:solidFill>
            <a:srgbClr val="0C1B36"/>
          </a:solidFill>
          <a:ln>
            <a:solidFill>
              <a:srgbClr val="0C1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Aptos Display"/>
              </a:rPr>
              <a:t>Core UI</a:t>
            </a:r>
          </a:p>
          <a:p>
            <a:r>
              <a:rPr sz="1200">
                <a:solidFill>
                  <a:srgbClr val="FFFFFF"/>
                </a:solidFill>
                <a:latin typeface="Aptos"/>
              </a:rPr>
              <a:t>Specialty gap map
Specialty and multi-specialty filters
Evidence-backed facility shortlist
Facility detail panel with sources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3474720"/>
          </a:xfrm>
          <a:prstGeom prst="roundRect">
            <a:avLst/>
          </a:prstGeom>
          <a:solidFill>
            <a:srgbClr val="139CA4"/>
          </a:solidFill>
          <a:ln>
            <a:solidFill>
              <a:srgbClr val="139C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Aptos Display"/>
              </a:rPr>
              <a:t>Decision layer</a:t>
            </a:r>
          </a:p>
          <a:p>
            <a:r>
              <a:rPr sz="1200">
                <a:solidFill>
                  <a:srgbClr val="FFFFFF"/>
                </a:solidFill>
                <a:latin typeface="Aptos"/>
              </a:rPr>
              <a:t>Opportunity ranking by geography
Shortlist and notes
Data quality flags
District demand lens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06C7E"/>
                </a:solidFill>
                <a:latin typeface="Aptos"/>
              </a:rPr>
              <a:t>This scope is realistic for the hackathon timeline and the available dataset.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222D"/>
                </a:solidFill>
                <a:latin typeface="Aptos Display"/>
              </a:rPr>
              <a:t>What we are not claiming yet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789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06C7E"/>
                </a:solidFill>
                <a:latin typeface="Aptos"/>
              </a:rPr>
              <a:t>Important guardrails for a credible demo.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5577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C222D"/>
                </a:solidFill>
                <a:latin typeface="Aptos"/>
              </a:defRPr>
            </a:pPr>
            <a:r>
              <a:t>Not live vacancy or appointment availability.</a:t>
            </a:r>
          </a:p>
          <a:p>
            <a:pPr>
              <a:spcAft>
                <a:spcPts val="800"/>
              </a:spcAft>
              <a:defRPr sz="1900">
                <a:solidFill>
                  <a:srgbClr val="1C222D"/>
                </a:solidFill>
                <a:latin typeface="Aptos"/>
              </a:defRPr>
            </a:pPr>
            <a:r>
              <a:t>Not real-time staffing or wait times.</a:t>
            </a:r>
          </a:p>
          <a:p>
            <a:pPr>
              <a:spcAft>
                <a:spcPts val="800"/>
              </a:spcAft>
              <a:defRPr sz="1900">
                <a:solidFill>
                  <a:srgbClr val="1C222D"/>
                </a:solidFill>
                <a:latin typeface="Aptos"/>
              </a:defRPr>
            </a:pPr>
            <a:r>
              <a:t>Not licensing or accreditation verification.</a:t>
            </a:r>
          </a:p>
          <a:p>
            <a:pPr>
              <a:spcAft>
                <a:spcPts val="800"/>
              </a:spcAft>
              <a:defRPr sz="1900">
                <a:solidFill>
                  <a:srgbClr val="1C222D"/>
                </a:solidFill>
                <a:latin typeface="Aptos"/>
              </a:defRPr>
            </a:pPr>
            <a:r>
              <a:t>Not exact revenue prediction.</a:t>
            </a:r>
          </a:p>
          <a:p>
            <a:pPr>
              <a:spcAft>
                <a:spcPts val="800"/>
              </a:spcAft>
              <a:defRPr sz="1900">
                <a:solidFill>
                  <a:srgbClr val="1C222D"/>
                </a:solidFill>
                <a:latin typeface="Aptos"/>
              </a:defRPr>
            </a:pPr>
            <a:r>
              <a:t>Not exact catchment population modeling.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828800"/>
            <a:ext cx="4480560" cy="2926080"/>
          </a:xfrm>
          <a:prstGeom prst="roundRect">
            <a:avLst/>
          </a:prstGeom>
          <a:solidFill>
            <a:srgbClr val="EC7650"/>
          </a:solidFill>
          <a:ln>
            <a:solidFill>
              <a:srgbClr val="EC76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Aptos Display"/>
              </a:rPr>
              <a:t>Better phrasing</a:t>
            </a:r>
          </a:p>
          <a:p>
            <a:r>
              <a:rPr sz="1200">
                <a:solidFill>
                  <a:srgbClr val="FFFFFF"/>
                </a:solidFill>
                <a:latin typeface="Aptos"/>
              </a:rPr>
              <a:t>We are building an expansion-intelligence map that identifies underserved specialty geographies using trust-scored facility data, with maternal care delivery-cost modeling as a specialty-specific affordability 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06C7E"/>
                </a:solidFill>
                <a:latin typeface="Aptos"/>
              </a:rPr>
              <a:t>This keeps the demo honest and aligned with the data.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B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Future roadmap if we had more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789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Aptos"/>
              </a:rPr>
              <a:t>This becomes more powerful with market, pricing, and operations data.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2103120"/>
          </a:xfrm>
          <a:prstGeom prst="roundRect">
            <a:avLst/>
          </a:prstGeom>
          <a:solidFill>
            <a:srgbClr val="139CA4"/>
          </a:solidFill>
          <a:ln>
            <a:solidFill>
              <a:srgbClr val="139C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Aptos Display"/>
              </a:rPr>
              <a:t>Market sizing</a:t>
            </a:r>
          </a:p>
          <a:p>
            <a:r>
              <a:rPr sz="1200">
                <a:solidFill>
                  <a:srgbClr val="FFFFFF"/>
                </a:solidFill>
                <a:latin typeface="Aptos"/>
              </a:rPr>
              <a:t>Population, income, payer mix, and utilization data.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474720" cy="2103120"/>
          </a:xfrm>
          <a:prstGeom prst="roundRect">
            <a:avLst/>
          </a:prstGeom>
          <a:solidFill>
            <a:srgbClr val="EC7650"/>
          </a:solidFill>
          <a:ln>
            <a:solidFill>
              <a:srgbClr val="EC76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Aptos Display"/>
              </a:rPr>
              <a:t>Competition</a:t>
            </a:r>
          </a:p>
          <a:p>
            <a:r>
              <a:rPr sz="1200">
                <a:solidFill>
                  <a:srgbClr val="FFFFFF"/>
                </a:solidFill>
                <a:latin typeface="Aptos"/>
              </a:rPr>
              <a:t>Live provider availability, schedules, and appointment data.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474720" cy="2103120"/>
          </a:xfrm>
          <a:prstGeom prst="roundRect">
            <a:avLst/>
          </a:prstGeom>
          <a:solidFill>
            <a:srgbClr val="4D80BF"/>
          </a:solidFill>
          <a:ln>
            <a:solidFill>
              <a:srgbClr val="4D8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Aptos Display"/>
              </a:rPr>
              <a:t>Validation</a:t>
            </a:r>
          </a:p>
          <a:p>
            <a:r>
              <a:rPr sz="1200">
                <a:solidFill>
                  <a:srgbClr val="FFFFFF"/>
                </a:solidFill>
                <a:latin typeface="Aptos"/>
              </a:rPr>
              <a:t>Licensing, accreditation, audit, and registry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20240" y="4114800"/>
            <a:ext cx="8229600" cy="1371600"/>
          </a:xfrm>
          <a:prstGeom prst="roundRect">
            <a:avLst/>
          </a:prstGeom>
          <a:solidFill>
            <a:srgbClr val="212D42"/>
          </a:solidFill>
          <a:ln>
            <a:solidFill>
              <a:srgbClr val="21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Aptos Display"/>
              </a:rPr>
              <a:t>Navigation and investment</a:t>
            </a:r>
          </a:p>
          <a:p>
            <a:r>
              <a:rPr sz="1200">
                <a:solidFill>
                  <a:srgbClr val="FFFFFF"/>
                </a:solidFill>
                <a:latin typeface="Aptos"/>
              </a:rPr>
              <a:t>Routing, referral outcomes, lease, rent, and labor cost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B4BECD"/>
                </a:solidFill>
                <a:latin typeface="Aptos"/>
              </a:rPr>
              <a:t>Future data would let us move from opportunity inference to deeper business planning.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222D"/>
                </a:solidFill>
                <a:latin typeface="Aptos Display"/>
              </a:rPr>
              <a:t>Proposed demo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789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06C7E"/>
                </a:solidFill>
                <a:latin typeface="Aptos"/>
              </a:rPr>
              <a:t>A simple scenario the team can align 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424160" cy="3474720"/>
          </a:xfrm>
          <a:prstGeom prst="roundRect">
            <a:avLst/>
          </a:prstGeom>
          <a:solidFill>
            <a:srgbClr val="0C1B36"/>
          </a:solidFill>
          <a:ln>
            <a:solidFill>
              <a:srgbClr val="0C1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Aptos Display"/>
              </a:rPr>
              <a:t>Demo narrative</a:t>
            </a:r>
          </a:p>
          <a:p>
            <a:r>
              <a:rPr sz="1200">
                <a:solidFill>
                  <a:srgbClr val="FFFFFF"/>
                </a:solidFill>
                <a:latin typeface="Aptos"/>
              </a:rPr>
              <a:t>A private internal medicine group wants to expand into a new district. A maternal care team selects maternity planning and sees district delivery-cost estimates, insurance coverage context, and nearby facilities that are better positioned for affordable childbirth care. Each recommendation includes nearby competitor facilities, source-backed evidence, and a confidence label. The team saves the best locations and exports a shortlist for review.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06C7E"/>
                </a:solidFill>
                <a:latin typeface="Aptos"/>
              </a:rPr>
              <a:t>Good for a 3-minute coworker walkthrough and a hackathon demo later.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