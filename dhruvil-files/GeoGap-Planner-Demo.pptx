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B3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C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91695" cy="548640"/>
          </a:xfrm>
          <a:prstGeom prst="rect">
            <a:avLst/>
          </a:prstGeom>
          <a:solidFill>
            <a:srgbClr val="139C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515600" cy="1371600"/>
          </a:xfrm>
          <a:prstGeom prst="rect">
            <a:avLst/>
          </a:prstGeom>
          <a:noFill/>
        </p:spPr>
        <p:txBody>
          <a:bodyPr wrap="none">
            <a:spAutoFit/>
          </a:bodyPr>
          <a:lstStyle/>
          <a:p>
            <a:r>
              <a:rPr sz="3400" b="1">
                <a:solidFill>
                  <a:srgbClr val="FFFFFF"/>
                </a:solidFill>
                <a:latin typeface="Aptos Display"/>
              </a:rPr>
              <a:t>GeoGap Planner</a:t>
            </a:r>
          </a:p>
          <a:p>
            <a:pPr>
              <a:defRPr sz="1800">
                <a:solidFill>
                  <a:srgbClr val="CDD9E9"/>
                </a:solidFill>
                <a:latin typeface="Aptos"/>
              </a:defRPr>
            </a:pPr>
            <a:r>
              <a:t>A geospatial expansion-intelligence app for doctors and hospital groups</a:t>
            </a:r>
          </a:p>
        </p:txBody>
      </p:sp>
      <p:sp>
        <p:nvSpPr>
          <p:cNvPr id="5" name="TextBox 4"/>
          <p:cNvSpPr txBox="1"/>
          <p:nvPr/>
        </p:nvSpPr>
        <p:spPr>
          <a:xfrm>
            <a:off x="749808" y="2560320"/>
            <a:ext cx="9875520" cy="1097280"/>
          </a:xfrm>
          <a:prstGeom prst="rect">
            <a:avLst/>
          </a:prstGeom>
          <a:noFill/>
        </p:spPr>
        <p:txBody>
          <a:bodyPr wrap="none">
            <a:spAutoFit/>
          </a:bodyPr>
          <a:lstStyle/>
          <a:p>
            <a:r>
              <a:rPr sz="2000">
                <a:solidFill>
                  <a:srgbClr val="E8F0FA"/>
                </a:solidFill>
                <a:latin typeface="Aptos"/>
              </a:rPr>
              <a:t>Find underserved specialty geographies, review evidence-backed facilities, assess affordability, and shortlist candidate expansion zones.</a:t>
            </a:r>
          </a:p>
        </p:txBody>
      </p:sp>
      <p:sp>
        <p:nvSpPr>
          <p:cNvPr id="6" name="TextBox 5"/>
          <p:cNvSpPr txBox="1"/>
          <p:nvPr/>
        </p:nvSpPr>
        <p:spPr>
          <a:xfrm>
            <a:off x="640080" y="6400800"/>
            <a:ext cx="10972800" cy="228600"/>
          </a:xfrm>
          <a:prstGeom prst="rect">
            <a:avLst/>
          </a:prstGeom>
          <a:noFill/>
        </p:spPr>
        <p:txBody>
          <a:bodyPr wrap="none">
            <a:spAutoFit/>
          </a:bodyPr>
          <a:lstStyle/>
          <a:p>
            <a:r>
              <a:rPr sz="900">
                <a:solidFill>
                  <a:srgbClr val="B4BECD"/>
                </a:solidFill>
                <a:latin typeface="Aptos"/>
              </a:rPr>
              <a:t>Hackathon concept draft | coworker review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0E7"/>
        </a:solidFill>
        <a:effectLst/>
      </p:bgPr>
    </p:bg>
    <p:spTree>
      <p:nvGrpSpPr>
        <p:cNvPr id="1" name=""/>
        <p:cNvGrpSpPr/>
        <p:nvPr/>
      </p:nvGrpSpPr>
      <p:grpSpPr/>
      <p:sp>
        <p:nvSpPr>
          <p:cNvPr id="2" name="TextBox 1"/>
          <p:cNvSpPr txBox="1"/>
          <p:nvPr/>
        </p:nvSpPr>
        <p:spPr>
          <a:xfrm>
            <a:off x="640080" y="457200"/>
            <a:ext cx="10789920" cy="731520"/>
          </a:xfrm>
          <a:prstGeom prst="rect">
            <a:avLst/>
          </a:prstGeom>
          <a:noFill/>
        </p:spPr>
        <p:txBody>
          <a:bodyPr wrap="none">
            <a:spAutoFit/>
          </a:bodyPr>
          <a:lstStyle/>
          <a:p>
            <a:r>
              <a:rPr sz="2800" b="1">
                <a:solidFill>
                  <a:srgbClr val="1C222D"/>
                </a:solidFill>
                <a:latin typeface="Aptos Display"/>
              </a:rPr>
              <a:t>The problem</a:t>
            </a:r>
          </a:p>
        </p:txBody>
      </p:sp>
      <p:sp>
        <p:nvSpPr>
          <p:cNvPr id="3" name="TextBox 2"/>
          <p:cNvSpPr txBox="1"/>
          <p:nvPr/>
        </p:nvSpPr>
        <p:spPr>
          <a:xfrm>
            <a:off x="658368" y="1078992"/>
            <a:ext cx="10515600" cy="457200"/>
          </a:xfrm>
          <a:prstGeom prst="rect">
            <a:avLst/>
          </a:prstGeom>
          <a:noFill/>
        </p:spPr>
        <p:txBody>
          <a:bodyPr wrap="none">
            <a:spAutoFit/>
          </a:bodyPr>
          <a:lstStyle/>
          <a:p>
            <a:r>
              <a:rPr sz="1300">
                <a:solidFill>
                  <a:srgbClr val="606C7E"/>
                </a:solidFill>
                <a:latin typeface="Aptos"/>
              </a:rPr>
              <a:t>Doctors and hospital groups need a better way to choose where to expand.</a:t>
            </a:r>
          </a:p>
        </p:txBody>
      </p:sp>
      <p:sp>
        <p:nvSpPr>
          <p:cNvPr id="4" name="TextBox 3"/>
          <p:cNvSpPr txBox="1"/>
          <p:nvPr/>
        </p:nvSpPr>
        <p:spPr>
          <a:xfrm>
            <a:off x="731520" y="1645920"/>
            <a:ext cx="5486400" cy="4389120"/>
          </a:xfrm>
          <a:prstGeom prst="rect">
            <a:avLst/>
          </a:prstGeom>
          <a:noFill/>
        </p:spPr>
        <p:txBody>
          <a:bodyPr wrap="square">
            <a:spAutoFit/>
          </a:bodyPr>
          <a:lstStyle/>
          <a:p>
            <a:pPr>
              <a:spcAft>
                <a:spcPts val="800"/>
              </a:spcAft>
              <a:defRPr sz="1900">
                <a:solidFill>
                  <a:srgbClr val="1C222D"/>
                </a:solidFill>
                <a:latin typeface="Aptos"/>
              </a:defRPr>
            </a:pPr>
            <a:r>
              <a:t>Expansion decisions are often made with incomplete local visibility.</a:t>
            </a:r>
          </a:p>
          <a:p>
            <a:pPr>
              <a:spcAft>
                <a:spcPts val="800"/>
              </a:spcAft>
              <a:defRPr sz="1900">
                <a:solidFill>
                  <a:srgbClr val="1C222D"/>
                </a:solidFill>
                <a:latin typeface="Aptos"/>
              </a:defRPr>
            </a:pPr>
            <a:r>
              <a:t>A simple directory does not show real specialty gaps.</a:t>
            </a:r>
          </a:p>
          <a:p>
            <a:pPr>
              <a:spcAft>
                <a:spcPts val="800"/>
              </a:spcAft>
              <a:defRPr sz="1900">
                <a:solidFill>
                  <a:srgbClr val="1C222D"/>
                </a:solidFill>
                <a:latin typeface="Aptos"/>
              </a:defRPr>
            </a:pPr>
            <a:r>
              <a:t>Facility claims are messy, repetitive, and unevenly supported.</a:t>
            </a:r>
          </a:p>
          <a:p>
            <a:pPr>
              <a:spcAft>
                <a:spcPts val="800"/>
              </a:spcAft>
              <a:defRPr sz="1900">
                <a:solidFill>
                  <a:srgbClr val="1C222D"/>
                </a:solidFill>
                <a:latin typeface="Aptos"/>
              </a:defRPr>
            </a:pPr>
            <a:r>
              <a:t>District health burden matters when judging where demand is likely high.</a:t>
            </a:r>
          </a:p>
          <a:p>
            <a:pPr>
              <a:spcAft>
                <a:spcPts val="800"/>
              </a:spcAft>
              <a:defRPr sz="1900">
                <a:solidFill>
                  <a:srgbClr val="1C222D"/>
                </a:solidFill>
                <a:latin typeface="Aptos"/>
              </a:defRPr>
            </a:pPr>
            <a:r>
              <a:t>Affordability matters if the chosen area needs to fit a lower-cost or premium care model.</a:t>
            </a:r>
          </a:p>
        </p:txBody>
      </p:sp>
      <p:sp>
        <p:nvSpPr>
          <p:cNvPr id="5" name="Rounded Rectangle 4"/>
          <p:cNvSpPr/>
          <p:nvPr/>
        </p:nvSpPr>
        <p:spPr>
          <a:xfrm>
            <a:off x="6675120" y="1737360"/>
            <a:ext cx="4572000" cy="3291840"/>
          </a:xfrm>
          <a:prstGeom prst="roundRect">
            <a:avLst/>
          </a:prstGeom>
          <a:solidFill>
            <a:srgbClr val="139CA4"/>
          </a:solidFill>
          <a:ln>
            <a:solidFill>
              <a:srgbClr val="139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ptos Display"/>
              </a:rPr>
              <a:t>What this app changes</a:t>
            </a:r>
          </a:p>
          <a:p>
            <a:r>
              <a:rPr sz="1200">
                <a:solidFill>
                  <a:srgbClr val="FFFFFF"/>
                </a:solidFill>
                <a:latin typeface="Aptos"/>
              </a:rPr>
              <a:t>It turns noisy healthcare records into a map-based decision tool that ranks underserved locations, shows the evidence behind each recommendation, and adds a coarse affordability lens.</a:t>
            </a:r>
          </a:p>
        </p:txBody>
      </p:sp>
      <p:sp>
        <p:nvSpPr>
          <p:cNvPr id="6" name="TextBox 5"/>
          <p:cNvSpPr txBox="1"/>
          <p:nvPr/>
        </p:nvSpPr>
        <p:spPr>
          <a:xfrm>
            <a:off x="640080" y="6400800"/>
            <a:ext cx="10972800" cy="228600"/>
          </a:xfrm>
          <a:prstGeom prst="rect">
            <a:avLst/>
          </a:prstGeom>
          <a:noFill/>
        </p:spPr>
        <p:txBody>
          <a:bodyPr wrap="none">
            <a:spAutoFit/>
          </a:bodyPr>
          <a:lstStyle/>
          <a:p>
            <a:r>
              <a:rPr sz="900">
                <a:solidFill>
                  <a:srgbClr val="606C7E"/>
                </a:solidFill>
                <a:latin typeface="Aptos"/>
              </a:rPr>
              <a:t>Focus: specialty expansion planning, not live vacancy search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789920" cy="731520"/>
          </a:xfrm>
          <a:prstGeom prst="rect">
            <a:avLst/>
          </a:prstGeom>
          <a:noFill/>
        </p:spPr>
        <p:txBody>
          <a:bodyPr wrap="none">
            <a:spAutoFit/>
          </a:bodyPr>
          <a:lstStyle/>
          <a:p>
            <a:r>
              <a:rPr sz="2800" b="1">
                <a:solidFill>
                  <a:srgbClr val="1C222D"/>
                </a:solidFill>
                <a:latin typeface="Aptos Display"/>
              </a:rPr>
              <a:t>What data we already have</a:t>
            </a:r>
          </a:p>
        </p:txBody>
      </p:sp>
      <p:sp>
        <p:nvSpPr>
          <p:cNvPr id="3" name="TextBox 2"/>
          <p:cNvSpPr txBox="1"/>
          <p:nvPr/>
        </p:nvSpPr>
        <p:spPr>
          <a:xfrm>
            <a:off x="658368" y="1078992"/>
            <a:ext cx="10515600" cy="457200"/>
          </a:xfrm>
          <a:prstGeom prst="rect">
            <a:avLst/>
          </a:prstGeom>
          <a:noFill/>
        </p:spPr>
        <p:txBody>
          <a:bodyPr wrap="none">
            <a:spAutoFit/>
          </a:bodyPr>
          <a:lstStyle/>
          <a:p>
            <a:r>
              <a:rPr sz="1300">
                <a:solidFill>
                  <a:srgbClr val="606C7E"/>
                </a:solidFill>
                <a:latin typeface="Aptos"/>
              </a:rPr>
              <a:t>Enough to build a useful MVP without overpromising.</a:t>
            </a:r>
          </a:p>
        </p:txBody>
      </p:sp>
      <p:sp>
        <p:nvSpPr>
          <p:cNvPr id="4" name="Rounded Rectangle 3"/>
          <p:cNvSpPr/>
          <p:nvPr/>
        </p:nvSpPr>
        <p:spPr>
          <a:xfrm>
            <a:off x="731520" y="1645920"/>
            <a:ext cx="3474720" cy="3474720"/>
          </a:xfrm>
          <a:prstGeom prst="roundRect">
            <a:avLst/>
          </a:prstGeom>
          <a:solidFill>
            <a:srgbClr val="0C1B36"/>
          </a:solidFill>
          <a:ln>
            <a:solidFill>
              <a:srgbClr val="0C1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ptos Display"/>
              </a:rPr>
              <a:t>Facilities</a:t>
            </a:r>
          </a:p>
          <a:p>
            <a:r>
              <a:rPr sz="1200">
                <a:solidFill>
                  <a:srgbClr val="FFFFFF"/>
                </a:solidFill>
                <a:latin typeface="Aptos"/>
              </a:rPr>
              <a:t>Supply signals: facility name, type, operator type, address, coordinates, specialties, procedures, equipment, capabilities, contacts, and source URLs.</a:t>
            </a:r>
          </a:p>
        </p:txBody>
      </p:sp>
      <p:sp>
        <p:nvSpPr>
          <p:cNvPr id="5" name="Rounded Rectangle 4"/>
          <p:cNvSpPr/>
          <p:nvPr/>
        </p:nvSpPr>
        <p:spPr>
          <a:xfrm>
            <a:off x="4389120" y="1645920"/>
            <a:ext cx="3474720" cy="3474720"/>
          </a:xfrm>
          <a:prstGeom prst="roundRect">
            <a:avLst/>
          </a:prstGeom>
          <a:solidFill>
            <a:srgbClr val="139CA4"/>
          </a:solidFill>
          <a:ln>
            <a:solidFill>
              <a:srgbClr val="139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ptos Display"/>
              </a:rPr>
              <a:t>Pincode geography</a:t>
            </a:r>
          </a:p>
          <a:p>
            <a:r>
              <a:rPr sz="1200">
                <a:solidFill>
                  <a:srgbClr val="FFFFFF"/>
                </a:solidFill>
                <a:latin typeface="Aptos"/>
              </a:rPr>
              <a:t>Geographic normalization: pincode, district, state, postal region fields, and approximate coordinates.</a:t>
            </a:r>
          </a:p>
        </p:txBody>
      </p:sp>
      <p:sp>
        <p:nvSpPr>
          <p:cNvPr id="6" name="Rounded Rectangle 5"/>
          <p:cNvSpPr/>
          <p:nvPr/>
        </p:nvSpPr>
        <p:spPr>
          <a:xfrm>
            <a:off x="8046720" y="1645920"/>
            <a:ext cx="3474720" cy="3474720"/>
          </a:xfrm>
          <a:prstGeom prst="roundRect">
            <a:avLst/>
          </a:prstGeom>
          <a:solidFill>
            <a:srgbClr val="EC7650"/>
          </a:solidFill>
          <a:ln>
            <a:solidFill>
              <a:srgbClr val="EC765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ptos Display"/>
              </a:rPr>
              <a:t>NFHS district indicators</a:t>
            </a:r>
          </a:p>
          <a:p>
            <a:r>
              <a:rPr sz="1200">
                <a:solidFill>
                  <a:srgbClr val="FFFFFF"/>
                </a:solidFill>
                <a:latin typeface="Aptos"/>
              </a:rPr>
              <a:t>Demand proxies: maternal health, child health, anemia, diabetes, hypertension, insurance, education, nutrition, and affordability context.</a:t>
            </a:r>
          </a:p>
        </p:txBody>
      </p:sp>
      <p:sp>
        <p:nvSpPr>
          <p:cNvPr id="7" name="TextBox 6"/>
          <p:cNvSpPr txBox="1"/>
          <p:nvPr/>
        </p:nvSpPr>
        <p:spPr>
          <a:xfrm>
            <a:off x="640080" y="6400800"/>
            <a:ext cx="10972800" cy="228600"/>
          </a:xfrm>
          <a:prstGeom prst="rect">
            <a:avLst/>
          </a:prstGeom>
          <a:noFill/>
        </p:spPr>
        <p:txBody>
          <a:bodyPr wrap="none">
            <a:spAutoFit/>
          </a:bodyPr>
          <a:lstStyle/>
          <a:p>
            <a:r>
              <a:rPr sz="900">
                <a:solidFill>
                  <a:srgbClr val="606C7E"/>
                </a:solidFill>
                <a:latin typeface="Aptos"/>
              </a:rPr>
              <a:t>These tables are enough for supply-gap inference, not live staffing or appointments.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B36"/>
        </a:solidFill>
        <a:effectLst/>
      </p:bgPr>
    </p:bg>
    <p:spTree>
      <p:nvGrpSpPr>
        <p:cNvPr id="1" name=""/>
        <p:cNvGrpSpPr/>
        <p:nvPr/>
      </p:nvGrpSpPr>
      <p:grpSpPr/>
      <p:sp>
        <p:nvSpPr>
          <p:cNvPr id="2" name="TextBox 1"/>
          <p:cNvSpPr txBox="1"/>
          <p:nvPr/>
        </p:nvSpPr>
        <p:spPr>
          <a:xfrm>
            <a:off x="640080" y="457200"/>
            <a:ext cx="10789920" cy="731520"/>
          </a:xfrm>
          <a:prstGeom prst="rect">
            <a:avLst/>
          </a:prstGeom>
          <a:noFill/>
        </p:spPr>
        <p:txBody>
          <a:bodyPr wrap="none">
            <a:spAutoFit/>
          </a:bodyPr>
          <a:lstStyle/>
          <a:p>
            <a:r>
              <a:rPr sz="2800" b="1">
                <a:solidFill>
                  <a:srgbClr val="FFFFFF"/>
                </a:solidFill>
                <a:latin typeface="Aptos Display"/>
              </a:rPr>
              <a:t>What the app will do</a:t>
            </a:r>
          </a:p>
        </p:txBody>
      </p:sp>
      <p:sp>
        <p:nvSpPr>
          <p:cNvPr id="3" name="TextBox 2"/>
          <p:cNvSpPr txBox="1"/>
          <p:nvPr/>
        </p:nvSpPr>
        <p:spPr>
          <a:xfrm>
            <a:off x="658368" y="1078992"/>
            <a:ext cx="10515600" cy="457200"/>
          </a:xfrm>
          <a:prstGeom prst="rect">
            <a:avLst/>
          </a:prstGeom>
          <a:noFill/>
        </p:spPr>
        <p:txBody>
          <a:bodyPr wrap="none">
            <a:spAutoFit/>
          </a:bodyPr>
          <a:lstStyle/>
          <a:p>
            <a:r>
              <a:rPr sz="1300">
                <a:solidFill>
                  <a:srgbClr val="FFFFFF"/>
                </a:solidFill>
                <a:latin typeface="Aptos"/>
              </a:rPr>
              <a:t>A map-first workflow for expansion planning.</a:t>
            </a:r>
          </a:p>
        </p:txBody>
      </p:sp>
      <p:sp>
        <p:nvSpPr>
          <p:cNvPr id="4" name="Rounded Rectangle 3"/>
          <p:cNvSpPr/>
          <p:nvPr/>
        </p:nvSpPr>
        <p:spPr>
          <a:xfrm>
            <a:off x="731520" y="1645920"/>
            <a:ext cx="3566160" cy="1920240"/>
          </a:xfrm>
          <a:prstGeom prst="roundRect">
            <a:avLst/>
          </a:prstGeom>
          <a:solidFill>
            <a:srgbClr val="139CA4"/>
          </a:solidFill>
          <a:ln>
            <a:solidFill>
              <a:srgbClr val="139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ptos Display"/>
              </a:rPr>
              <a:t>1. Search</a:t>
            </a:r>
          </a:p>
          <a:p>
            <a:r>
              <a:rPr sz="1200">
                <a:solidFill>
                  <a:srgbClr val="FFFFFF"/>
                </a:solidFill>
                <a:latin typeface="Aptos"/>
              </a:rPr>
              <a:t>User selects one specialty or a multi-specialty profile and chooses a geography.</a:t>
            </a:r>
          </a:p>
        </p:txBody>
      </p:sp>
      <p:sp>
        <p:nvSpPr>
          <p:cNvPr id="5" name="Rounded Rectangle 4"/>
          <p:cNvSpPr/>
          <p:nvPr/>
        </p:nvSpPr>
        <p:spPr>
          <a:xfrm>
            <a:off x="4297680" y="1645920"/>
            <a:ext cx="3566160" cy="1920240"/>
          </a:xfrm>
          <a:prstGeom prst="roundRect">
            <a:avLst/>
          </a:prstGeom>
          <a:solidFill>
            <a:srgbClr val="EC7650"/>
          </a:solidFill>
          <a:ln>
            <a:solidFill>
              <a:srgbClr val="EC765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ptos Display"/>
              </a:rPr>
              <a:t>2. Score</a:t>
            </a:r>
          </a:p>
          <a:p>
            <a:r>
              <a:rPr sz="1200">
                <a:solidFill>
                  <a:srgbClr val="FFFFFF"/>
                </a:solidFill>
                <a:latin typeface="Aptos"/>
              </a:rPr>
              <a:t>App evaluates nearby facilities using evidence strength and location coverage.</a:t>
            </a:r>
          </a:p>
        </p:txBody>
      </p:sp>
      <p:sp>
        <p:nvSpPr>
          <p:cNvPr id="6" name="Rounded Rectangle 5"/>
          <p:cNvSpPr/>
          <p:nvPr/>
        </p:nvSpPr>
        <p:spPr>
          <a:xfrm>
            <a:off x="7863840" y="1645920"/>
            <a:ext cx="3566160" cy="1920240"/>
          </a:xfrm>
          <a:prstGeom prst="roundRect">
            <a:avLst/>
          </a:prstGeom>
          <a:solidFill>
            <a:srgbClr val="4D80BF"/>
          </a:solidFill>
          <a:ln>
            <a:solidFill>
              <a:srgbClr val="4D80B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ptos Display"/>
              </a:rPr>
              <a:t>3. Rank</a:t>
            </a:r>
          </a:p>
          <a:p>
            <a:r>
              <a:rPr sz="1200">
                <a:solidFill>
                  <a:srgbClr val="FFFFFF"/>
                </a:solidFill>
                <a:latin typeface="Aptos"/>
              </a:rPr>
              <a:t>App ranks candidate zones by supply gap, demand signal, and confidence.</a:t>
            </a:r>
          </a:p>
        </p:txBody>
      </p:sp>
      <p:sp>
        <p:nvSpPr>
          <p:cNvPr id="7" name="Rounded Rectangle 6"/>
          <p:cNvSpPr/>
          <p:nvPr/>
        </p:nvSpPr>
        <p:spPr>
          <a:xfrm>
            <a:off x="2011680" y="4023360"/>
            <a:ext cx="8138160" cy="1554480"/>
          </a:xfrm>
          <a:prstGeom prst="roundRect">
            <a:avLst/>
          </a:prstGeom>
          <a:solidFill>
            <a:srgbClr val="212D42"/>
          </a:solidFill>
          <a:ln>
            <a:solidFill>
              <a:srgbClr val="212D4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ptos Display"/>
              </a:rPr>
              <a:t>Output</a:t>
            </a:r>
          </a:p>
          <a:p>
            <a:r>
              <a:rPr sz="1200">
                <a:solidFill>
                  <a:srgbClr val="FFFFFF"/>
                </a:solidFill>
                <a:latin typeface="Aptos"/>
              </a:rPr>
              <a:t>An evidence-backed shortlist of expansion locations with nearby competitors, trust labels, affordability labels, and notes the user can save.</a:t>
            </a:r>
          </a:p>
        </p:txBody>
      </p:sp>
      <p:sp>
        <p:nvSpPr>
          <p:cNvPr id="8" name="TextBox 7"/>
          <p:cNvSpPr txBox="1"/>
          <p:nvPr/>
        </p:nvSpPr>
        <p:spPr>
          <a:xfrm>
            <a:off x="640080" y="6400800"/>
            <a:ext cx="10972800" cy="228600"/>
          </a:xfrm>
          <a:prstGeom prst="rect">
            <a:avLst/>
          </a:prstGeom>
          <a:noFill/>
        </p:spPr>
        <p:txBody>
          <a:bodyPr wrap="none">
            <a:spAutoFit/>
          </a:bodyPr>
          <a:lstStyle/>
          <a:p>
            <a:r>
              <a:rPr sz="900">
                <a:solidFill>
                  <a:srgbClr val="B4BECD"/>
                </a:solidFill>
                <a:latin typeface="Aptos"/>
              </a:rPr>
              <a:t>Trust labels keep weak claims from being treated as fact.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0E7"/>
        </a:solidFill>
        <a:effectLst/>
      </p:bgPr>
    </p:bg>
    <p:spTree>
      <p:nvGrpSpPr>
        <p:cNvPr id="1" name=""/>
        <p:cNvGrpSpPr/>
        <p:nvPr/>
      </p:nvGrpSpPr>
      <p:grpSpPr/>
      <p:sp>
        <p:nvSpPr>
          <p:cNvPr id="2" name="TextBox 1"/>
          <p:cNvSpPr txBox="1"/>
          <p:nvPr/>
        </p:nvSpPr>
        <p:spPr>
          <a:xfrm>
            <a:off x="640080" y="457200"/>
            <a:ext cx="10789920" cy="731520"/>
          </a:xfrm>
          <a:prstGeom prst="rect">
            <a:avLst/>
          </a:prstGeom>
          <a:noFill/>
        </p:spPr>
        <p:txBody>
          <a:bodyPr wrap="none">
            <a:spAutoFit/>
          </a:bodyPr>
          <a:lstStyle/>
          <a:p>
            <a:r>
              <a:rPr sz="2800" b="1">
                <a:solidFill>
                  <a:srgbClr val="1C222D"/>
                </a:solidFill>
                <a:latin typeface="Aptos Display"/>
              </a:rPr>
              <a:t>MVP feature set</a:t>
            </a:r>
          </a:p>
        </p:txBody>
      </p:sp>
      <p:sp>
        <p:nvSpPr>
          <p:cNvPr id="3" name="TextBox 2"/>
          <p:cNvSpPr txBox="1"/>
          <p:nvPr/>
        </p:nvSpPr>
        <p:spPr>
          <a:xfrm>
            <a:off x="658368" y="1078992"/>
            <a:ext cx="10515600" cy="457200"/>
          </a:xfrm>
          <a:prstGeom prst="rect">
            <a:avLst/>
          </a:prstGeom>
          <a:noFill/>
        </p:spPr>
        <p:txBody>
          <a:bodyPr wrap="none">
            <a:spAutoFit/>
          </a:bodyPr>
          <a:lstStyle/>
          <a:p>
            <a:r>
              <a:rPr sz="1300">
                <a:solidFill>
                  <a:srgbClr val="606C7E"/>
                </a:solidFill>
                <a:latin typeface="Aptos"/>
              </a:rPr>
              <a:t>What we can build now from the current data.</a:t>
            </a:r>
          </a:p>
        </p:txBody>
      </p:sp>
      <p:sp>
        <p:nvSpPr>
          <p:cNvPr id="4" name="Rounded Rectangle 3"/>
          <p:cNvSpPr/>
          <p:nvPr/>
        </p:nvSpPr>
        <p:spPr>
          <a:xfrm>
            <a:off x="822960" y="1645920"/>
            <a:ext cx="5120640" cy="3474720"/>
          </a:xfrm>
          <a:prstGeom prst="roundRect">
            <a:avLst/>
          </a:prstGeom>
          <a:solidFill>
            <a:srgbClr val="0C1B36"/>
          </a:solidFill>
          <a:ln>
            <a:solidFill>
              <a:srgbClr val="0C1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ptos Display"/>
              </a:rPr>
              <a:t>Core UI</a:t>
            </a:r>
          </a:p>
          <a:p>
            <a:r>
              <a:rPr sz="1200">
                <a:solidFill>
                  <a:srgbClr val="FFFFFF"/>
                </a:solidFill>
                <a:latin typeface="Aptos"/>
              </a:rPr>
              <a:t>Specialty gap map
Specialty and multi-specialty filters
Evidence-backed facility shortlist
Facility detail panel with sources</a:t>
            </a:r>
          </a:p>
        </p:txBody>
      </p:sp>
      <p:sp>
        <p:nvSpPr>
          <p:cNvPr id="5" name="Rounded Rectangle 4"/>
          <p:cNvSpPr/>
          <p:nvPr/>
        </p:nvSpPr>
        <p:spPr>
          <a:xfrm>
            <a:off x="6217920" y="1645920"/>
            <a:ext cx="5120640" cy="3474720"/>
          </a:xfrm>
          <a:prstGeom prst="roundRect">
            <a:avLst/>
          </a:prstGeom>
          <a:solidFill>
            <a:srgbClr val="139CA4"/>
          </a:solidFill>
          <a:ln>
            <a:solidFill>
              <a:srgbClr val="139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ptos Display"/>
              </a:rPr>
              <a:t>Decision layer</a:t>
            </a:r>
          </a:p>
          <a:p>
            <a:r>
              <a:rPr sz="1200">
                <a:solidFill>
                  <a:srgbClr val="FFFFFF"/>
                </a:solidFill>
                <a:latin typeface="Aptos"/>
              </a:rPr>
              <a:t>Opportunity ranking by geography
Shortlist and notes
Data quality flags
District demand lens</a:t>
            </a:r>
          </a:p>
        </p:txBody>
      </p:sp>
      <p:sp>
        <p:nvSpPr>
          <p:cNvPr id="6" name="TextBox 5"/>
          <p:cNvSpPr txBox="1"/>
          <p:nvPr/>
        </p:nvSpPr>
        <p:spPr>
          <a:xfrm>
            <a:off x="640080" y="6400800"/>
            <a:ext cx="10972800" cy="228600"/>
          </a:xfrm>
          <a:prstGeom prst="rect">
            <a:avLst/>
          </a:prstGeom>
          <a:noFill/>
        </p:spPr>
        <p:txBody>
          <a:bodyPr wrap="none">
            <a:spAutoFit/>
          </a:bodyPr>
          <a:lstStyle/>
          <a:p>
            <a:r>
              <a:rPr sz="900">
                <a:solidFill>
                  <a:srgbClr val="606C7E"/>
                </a:solidFill>
                <a:latin typeface="Aptos"/>
              </a:rPr>
              <a:t>This scope is realistic for the hackathon timeline and the available dataset.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789920" cy="731520"/>
          </a:xfrm>
          <a:prstGeom prst="rect">
            <a:avLst/>
          </a:prstGeom>
          <a:noFill/>
        </p:spPr>
        <p:txBody>
          <a:bodyPr wrap="none">
            <a:spAutoFit/>
          </a:bodyPr>
          <a:lstStyle/>
          <a:p>
            <a:r>
              <a:rPr sz="2800" b="1">
                <a:solidFill>
                  <a:srgbClr val="1C222D"/>
                </a:solidFill>
                <a:latin typeface="Aptos Display"/>
              </a:rPr>
              <a:t>What we are not claiming yet</a:t>
            </a:r>
          </a:p>
        </p:txBody>
      </p:sp>
      <p:sp>
        <p:nvSpPr>
          <p:cNvPr id="3" name="TextBox 2"/>
          <p:cNvSpPr txBox="1"/>
          <p:nvPr/>
        </p:nvSpPr>
        <p:spPr>
          <a:xfrm>
            <a:off x="658368" y="1078992"/>
            <a:ext cx="10515600" cy="457200"/>
          </a:xfrm>
          <a:prstGeom prst="rect">
            <a:avLst/>
          </a:prstGeom>
          <a:noFill/>
        </p:spPr>
        <p:txBody>
          <a:bodyPr wrap="none">
            <a:spAutoFit/>
          </a:bodyPr>
          <a:lstStyle/>
          <a:p>
            <a:r>
              <a:rPr sz="1300">
                <a:solidFill>
                  <a:srgbClr val="606C7E"/>
                </a:solidFill>
                <a:latin typeface="Aptos"/>
              </a:rPr>
              <a:t>Important guardrails for a credible demo.</a:t>
            </a:r>
          </a:p>
        </p:txBody>
      </p:sp>
      <p:sp>
        <p:nvSpPr>
          <p:cNvPr id="4" name="TextBox 3"/>
          <p:cNvSpPr txBox="1"/>
          <p:nvPr/>
        </p:nvSpPr>
        <p:spPr>
          <a:xfrm>
            <a:off x="822960" y="1645920"/>
            <a:ext cx="5577840" cy="4389120"/>
          </a:xfrm>
          <a:prstGeom prst="rect">
            <a:avLst/>
          </a:prstGeom>
          <a:noFill/>
        </p:spPr>
        <p:txBody>
          <a:bodyPr wrap="square">
            <a:spAutoFit/>
          </a:bodyPr>
          <a:lstStyle/>
          <a:p>
            <a:pPr>
              <a:spcAft>
                <a:spcPts val="800"/>
              </a:spcAft>
              <a:defRPr sz="1900">
                <a:solidFill>
                  <a:srgbClr val="1C222D"/>
                </a:solidFill>
                <a:latin typeface="Aptos"/>
              </a:defRPr>
            </a:pPr>
            <a:r>
              <a:t>Not live vacancy or appointment availability.</a:t>
            </a:r>
          </a:p>
          <a:p>
            <a:pPr>
              <a:spcAft>
                <a:spcPts val="800"/>
              </a:spcAft>
              <a:defRPr sz="1900">
                <a:solidFill>
                  <a:srgbClr val="1C222D"/>
                </a:solidFill>
                <a:latin typeface="Aptos"/>
              </a:defRPr>
            </a:pPr>
            <a:r>
              <a:t>Not real-time staffing or wait times.</a:t>
            </a:r>
          </a:p>
          <a:p>
            <a:pPr>
              <a:spcAft>
                <a:spcPts val="800"/>
              </a:spcAft>
              <a:defRPr sz="1900">
                <a:solidFill>
                  <a:srgbClr val="1C222D"/>
                </a:solidFill>
                <a:latin typeface="Aptos"/>
              </a:defRPr>
            </a:pPr>
            <a:r>
              <a:t>Not licensing or accreditation verification.</a:t>
            </a:r>
          </a:p>
          <a:p>
            <a:pPr>
              <a:spcAft>
                <a:spcPts val="800"/>
              </a:spcAft>
              <a:defRPr sz="1900">
                <a:solidFill>
                  <a:srgbClr val="1C222D"/>
                </a:solidFill>
                <a:latin typeface="Aptos"/>
              </a:defRPr>
            </a:pPr>
            <a:r>
              <a:t>Not exact revenue prediction.</a:t>
            </a:r>
          </a:p>
          <a:p>
            <a:pPr>
              <a:spcAft>
                <a:spcPts val="800"/>
              </a:spcAft>
              <a:defRPr sz="1900">
                <a:solidFill>
                  <a:srgbClr val="1C222D"/>
                </a:solidFill>
                <a:latin typeface="Aptos"/>
              </a:defRPr>
            </a:pPr>
            <a:r>
              <a:t>Not exact catchment population modeling.</a:t>
            </a:r>
          </a:p>
        </p:txBody>
      </p:sp>
      <p:sp>
        <p:nvSpPr>
          <p:cNvPr id="5" name="Rounded Rectangle 4"/>
          <p:cNvSpPr/>
          <p:nvPr/>
        </p:nvSpPr>
        <p:spPr>
          <a:xfrm>
            <a:off x="6675120" y="1828800"/>
            <a:ext cx="4480560" cy="2926080"/>
          </a:xfrm>
          <a:prstGeom prst="roundRect">
            <a:avLst/>
          </a:prstGeom>
          <a:solidFill>
            <a:srgbClr val="EC7650"/>
          </a:solidFill>
          <a:ln>
            <a:solidFill>
              <a:srgbClr val="EC765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ptos Display"/>
              </a:rPr>
              <a:t>Better phrasing</a:t>
            </a:r>
          </a:p>
          <a:p>
            <a:r>
              <a:rPr sz="1200">
                <a:solidFill>
                  <a:srgbClr val="FFFFFF"/>
                </a:solidFill>
                <a:latin typeface="Aptos"/>
              </a:rPr>
              <a:t>We are building an expansion-intelligence map that identifies underserved specialty geographies using trust-scored facility data and a directional affordability lens.</a:t>
            </a:r>
          </a:p>
        </p:txBody>
      </p:sp>
      <p:sp>
        <p:nvSpPr>
          <p:cNvPr id="6" name="TextBox 5"/>
          <p:cNvSpPr txBox="1"/>
          <p:nvPr/>
        </p:nvSpPr>
        <p:spPr>
          <a:xfrm>
            <a:off x="640080" y="6400800"/>
            <a:ext cx="10972800" cy="228600"/>
          </a:xfrm>
          <a:prstGeom prst="rect">
            <a:avLst/>
          </a:prstGeom>
          <a:noFill/>
        </p:spPr>
        <p:txBody>
          <a:bodyPr wrap="none">
            <a:spAutoFit/>
          </a:bodyPr>
          <a:lstStyle/>
          <a:p>
            <a:r>
              <a:rPr sz="900">
                <a:solidFill>
                  <a:srgbClr val="606C7E"/>
                </a:solidFill>
                <a:latin typeface="Aptos"/>
              </a:rPr>
              <a:t>This keeps the demo honest and aligned with the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B36"/>
        </a:solidFill>
        <a:effectLst/>
      </p:bgPr>
    </p:bg>
    <p:spTree>
      <p:nvGrpSpPr>
        <p:cNvPr id="1" name=""/>
        <p:cNvGrpSpPr/>
        <p:nvPr/>
      </p:nvGrpSpPr>
      <p:grpSpPr/>
      <p:sp>
        <p:nvSpPr>
          <p:cNvPr id="2" name="TextBox 1"/>
          <p:cNvSpPr txBox="1"/>
          <p:nvPr/>
        </p:nvSpPr>
        <p:spPr>
          <a:xfrm>
            <a:off x="640080" y="457200"/>
            <a:ext cx="10789920" cy="731520"/>
          </a:xfrm>
          <a:prstGeom prst="rect">
            <a:avLst/>
          </a:prstGeom>
          <a:noFill/>
        </p:spPr>
        <p:txBody>
          <a:bodyPr wrap="none">
            <a:spAutoFit/>
          </a:bodyPr>
          <a:lstStyle/>
          <a:p>
            <a:r>
              <a:rPr sz="2800" b="1">
                <a:solidFill>
                  <a:srgbClr val="FFFFFF"/>
                </a:solidFill>
                <a:latin typeface="Aptos Display"/>
              </a:rPr>
              <a:t>Future roadmap if we had more data</a:t>
            </a:r>
          </a:p>
        </p:txBody>
      </p:sp>
      <p:sp>
        <p:nvSpPr>
          <p:cNvPr id="3" name="TextBox 2"/>
          <p:cNvSpPr txBox="1"/>
          <p:nvPr/>
        </p:nvSpPr>
        <p:spPr>
          <a:xfrm>
            <a:off x="658368" y="1078992"/>
            <a:ext cx="10515600" cy="457200"/>
          </a:xfrm>
          <a:prstGeom prst="rect">
            <a:avLst/>
          </a:prstGeom>
          <a:noFill/>
        </p:spPr>
        <p:txBody>
          <a:bodyPr wrap="none">
            <a:spAutoFit/>
          </a:bodyPr>
          <a:lstStyle/>
          <a:p>
            <a:r>
              <a:rPr sz="1300">
                <a:solidFill>
                  <a:srgbClr val="FFFFFF"/>
                </a:solidFill>
                <a:latin typeface="Aptos"/>
              </a:rPr>
              <a:t>This becomes more powerful with market, pricing, and operations data.</a:t>
            </a:r>
          </a:p>
        </p:txBody>
      </p:sp>
      <p:sp>
        <p:nvSpPr>
          <p:cNvPr id="4" name="Rounded Rectangle 3"/>
          <p:cNvSpPr/>
          <p:nvPr/>
        </p:nvSpPr>
        <p:spPr>
          <a:xfrm>
            <a:off x="731520" y="1645920"/>
            <a:ext cx="3474720" cy="2103120"/>
          </a:xfrm>
          <a:prstGeom prst="roundRect">
            <a:avLst/>
          </a:prstGeom>
          <a:solidFill>
            <a:srgbClr val="139CA4"/>
          </a:solidFill>
          <a:ln>
            <a:solidFill>
              <a:srgbClr val="139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ptos Display"/>
              </a:rPr>
              <a:t>Market sizing</a:t>
            </a:r>
          </a:p>
          <a:p>
            <a:r>
              <a:rPr sz="1200">
                <a:solidFill>
                  <a:srgbClr val="FFFFFF"/>
                </a:solidFill>
                <a:latin typeface="Aptos"/>
              </a:rPr>
              <a:t>Population, income, payer mix, and utilization data.</a:t>
            </a:r>
          </a:p>
        </p:txBody>
      </p:sp>
      <p:sp>
        <p:nvSpPr>
          <p:cNvPr id="5" name="Rounded Rectangle 4"/>
          <p:cNvSpPr/>
          <p:nvPr/>
        </p:nvSpPr>
        <p:spPr>
          <a:xfrm>
            <a:off x="4389120" y="1645920"/>
            <a:ext cx="3474720" cy="2103120"/>
          </a:xfrm>
          <a:prstGeom prst="roundRect">
            <a:avLst/>
          </a:prstGeom>
          <a:solidFill>
            <a:srgbClr val="EC7650"/>
          </a:solidFill>
          <a:ln>
            <a:solidFill>
              <a:srgbClr val="EC765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ptos Display"/>
              </a:rPr>
              <a:t>Competition</a:t>
            </a:r>
          </a:p>
          <a:p>
            <a:r>
              <a:rPr sz="1200">
                <a:solidFill>
                  <a:srgbClr val="FFFFFF"/>
                </a:solidFill>
                <a:latin typeface="Aptos"/>
              </a:rPr>
              <a:t>Live provider availability, schedules, and appointment data.</a:t>
            </a:r>
          </a:p>
        </p:txBody>
      </p:sp>
      <p:sp>
        <p:nvSpPr>
          <p:cNvPr id="6" name="Rounded Rectangle 5"/>
          <p:cNvSpPr/>
          <p:nvPr/>
        </p:nvSpPr>
        <p:spPr>
          <a:xfrm>
            <a:off x="8046720" y="1645920"/>
            <a:ext cx="3474720" cy="2103120"/>
          </a:xfrm>
          <a:prstGeom prst="roundRect">
            <a:avLst/>
          </a:prstGeom>
          <a:solidFill>
            <a:srgbClr val="4D80BF"/>
          </a:solidFill>
          <a:ln>
            <a:solidFill>
              <a:srgbClr val="4D80B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ptos Display"/>
              </a:rPr>
              <a:t>Validation</a:t>
            </a:r>
          </a:p>
          <a:p>
            <a:r>
              <a:rPr sz="1200">
                <a:solidFill>
                  <a:srgbClr val="FFFFFF"/>
                </a:solidFill>
                <a:latin typeface="Aptos"/>
              </a:rPr>
              <a:t>Licensing, accreditation, audit, and registry data.</a:t>
            </a:r>
          </a:p>
        </p:txBody>
      </p:sp>
      <p:sp>
        <p:nvSpPr>
          <p:cNvPr id="7" name="Rounded Rectangle 6"/>
          <p:cNvSpPr/>
          <p:nvPr/>
        </p:nvSpPr>
        <p:spPr>
          <a:xfrm>
            <a:off x="1920240" y="4114800"/>
            <a:ext cx="8229600" cy="1371600"/>
          </a:xfrm>
          <a:prstGeom prst="roundRect">
            <a:avLst/>
          </a:prstGeom>
          <a:solidFill>
            <a:srgbClr val="212D42"/>
          </a:solidFill>
          <a:ln>
            <a:solidFill>
              <a:srgbClr val="212D4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ptos Display"/>
              </a:rPr>
              <a:t>Navigation and investment</a:t>
            </a:r>
          </a:p>
          <a:p>
            <a:r>
              <a:rPr sz="1200">
                <a:solidFill>
                  <a:srgbClr val="FFFFFF"/>
                </a:solidFill>
                <a:latin typeface="Aptos"/>
              </a:rPr>
              <a:t>Routing, referral outcomes, lease, rent, and labor cost data.</a:t>
            </a:r>
          </a:p>
        </p:txBody>
      </p:sp>
      <p:sp>
        <p:nvSpPr>
          <p:cNvPr id="8" name="TextBox 7"/>
          <p:cNvSpPr txBox="1"/>
          <p:nvPr/>
        </p:nvSpPr>
        <p:spPr>
          <a:xfrm>
            <a:off x="640080" y="6400800"/>
            <a:ext cx="10972800" cy="228600"/>
          </a:xfrm>
          <a:prstGeom prst="rect">
            <a:avLst/>
          </a:prstGeom>
          <a:noFill/>
        </p:spPr>
        <p:txBody>
          <a:bodyPr wrap="none">
            <a:spAutoFit/>
          </a:bodyPr>
          <a:lstStyle/>
          <a:p>
            <a:r>
              <a:rPr sz="900">
                <a:solidFill>
                  <a:srgbClr val="B4BECD"/>
                </a:solidFill>
                <a:latin typeface="Aptos"/>
              </a:rPr>
              <a:t>Future data would let us move from opportunity inference to deeper business planning.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0E7"/>
        </a:solidFill>
        <a:effectLst/>
      </p:bgPr>
    </p:bg>
    <p:spTree>
      <p:nvGrpSpPr>
        <p:cNvPr id="1" name=""/>
        <p:cNvGrpSpPr/>
        <p:nvPr/>
      </p:nvGrpSpPr>
      <p:grpSpPr/>
      <p:sp>
        <p:nvSpPr>
          <p:cNvPr id="2" name="TextBox 1"/>
          <p:cNvSpPr txBox="1"/>
          <p:nvPr/>
        </p:nvSpPr>
        <p:spPr>
          <a:xfrm>
            <a:off x="640080" y="457200"/>
            <a:ext cx="10789920" cy="731520"/>
          </a:xfrm>
          <a:prstGeom prst="rect">
            <a:avLst/>
          </a:prstGeom>
          <a:noFill/>
        </p:spPr>
        <p:txBody>
          <a:bodyPr wrap="none">
            <a:spAutoFit/>
          </a:bodyPr>
          <a:lstStyle/>
          <a:p>
            <a:r>
              <a:rPr sz="2800" b="1">
                <a:solidFill>
                  <a:srgbClr val="1C222D"/>
                </a:solidFill>
                <a:latin typeface="Aptos Display"/>
              </a:rPr>
              <a:t>Proposed demo story</a:t>
            </a:r>
          </a:p>
        </p:txBody>
      </p:sp>
      <p:sp>
        <p:nvSpPr>
          <p:cNvPr id="3" name="TextBox 2"/>
          <p:cNvSpPr txBox="1"/>
          <p:nvPr/>
        </p:nvSpPr>
        <p:spPr>
          <a:xfrm>
            <a:off x="658368" y="1078992"/>
            <a:ext cx="10515600" cy="457200"/>
          </a:xfrm>
          <a:prstGeom prst="rect">
            <a:avLst/>
          </a:prstGeom>
          <a:noFill/>
        </p:spPr>
        <p:txBody>
          <a:bodyPr wrap="none">
            <a:spAutoFit/>
          </a:bodyPr>
          <a:lstStyle/>
          <a:p>
            <a:r>
              <a:rPr sz="1300">
                <a:solidFill>
                  <a:srgbClr val="606C7E"/>
                </a:solidFill>
                <a:latin typeface="Aptos"/>
              </a:rPr>
              <a:t>A simple scenario the team can align on.</a:t>
            </a:r>
          </a:p>
        </p:txBody>
      </p:sp>
      <p:sp>
        <p:nvSpPr>
          <p:cNvPr id="4" name="Rounded Rectangle 3"/>
          <p:cNvSpPr/>
          <p:nvPr/>
        </p:nvSpPr>
        <p:spPr>
          <a:xfrm>
            <a:off x="822960" y="1737360"/>
            <a:ext cx="10424160" cy="3474720"/>
          </a:xfrm>
          <a:prstGeom prst="roundRect">
            <a:avLst/>
          </a:prstGeom>
          <a:solidFill>
            <a:srgbClr val="0C1B36"/>
          </a:solidFill>
          <a:ln>
            <a:solidFill>
              <a:srgbClr val="0C1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Aptos Display"/>
              </a:rPr>
              <a:t>Demo narrative</a:t>
            </a:r>
          </a:p>
          <a:p>
            <a:r>
              <a:rPr sz="1200">
                <a:solidFill>
                  <a:srgbClr val="FFFFFF"/>
                </a:solidFill>
                <a:latin typeface="Aptos"/>
              </a:rPr>
              <a:t>A private internal medicine group wants to expand into a new district. They open GeoGap Planner, choose internal medicine, and immediately see areas where specialty supply is thin but district disease burden is high. Each recommendation includes nearby competitor facilities, source-backed evidence, and a confidence label. The team saves the best locations and exports a shortlist for review.</a:t>
            </a:r>
          </a:p>
        </p:txBody>
      </p:sp>
      <p:sp>
        <p:nvSpPr>
          <p:cNvPr id="5" name="TextBox 4"/>
          <p:cNvSpPr txBox="1"/>
          <p:nvPr/>
        </p:nvSpPr>
        <p:spPr>
          <a:xfrm>
            <a:off x="640080" y="6400800"/>
            <a:ext cx="10972800" cy="228600"/>
          </a:xfrm>
          <a:prstGeom prst="rect">
            <a:avLst/>
          </a:prstGeom>
          <a:noFill/>
        </p:spPr>
        <p:txBody>
          <a:bodyPr wrap="none">
            <a:spAutoFit/>
          </a:bodyPr>
          <a:lstStyle/>
          <a:p>
            <a:r>
              <a:rPr sz="900">
                <a:solidFill>
                  <a:srgbClr val="606C7E"/>
                </a:solidFill>
                <a:latin typeface="Aptos"/>
              </a:rPr>
              <a:t>Good for a 3-minute coworker walkthrough and a hackathon demo later.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